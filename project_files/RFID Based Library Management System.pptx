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ileron Heavy" panose="020B0604020202020204" charset="0"/>
      <p:regular r:id="rId11"/>
    </p:embeddedFont>
    <p:embeddedFont>
      <p:font typeface="Aileron Regular" panose="020B0604020202020204" charset="0"/>
      <p:regular r:id="rId12"/>
    </p:embeddedFont>
    <p:embeddedFont>
      <p:font typeface="Aileron Regular Bold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lear Sans Regular" panose="020B0604020202020204" charset="0"/>
      <p:regular r:id="rId18"/>
    </p:embeddedFont>
    <p:embeddedFont>
      <p:font typeface="HK Grotesk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8775001"/>
            <a:ext cx="18288000" cy="1511999"/>
          </a:xfrm>
          <a:prstGeom prst="rect">
            <a:avLst/>
          </a:prstGeom>
          <a:solidFill>
            <a:srgbClr val="787CD1"/>
          </a:solidFill>
        </p:spPr>
      </p:sp>
      <p:grpSp>
        <p:nvGrpSpPr>
          <p:cNvPr id="3" name="Group 3"/>
          <p:cNvGrpSpPr/>
          <p:nvPr/>
        </p:nvGrpSpPr>
        <p:grpSpPr>
          <a:xfrm>
            <a:off x="1171252" y="1274838"/>
            <a:ext cx="7408072" cy="4698569"/>
            <a:chOff x="0" y="0"/>
            <a:chExt cx="9651480" cy="6774978"/>
          </a:xfrm>
        </p:grpSpPr>
        <p:sp>
          <p:nvSpPr>
            <p:cNvPr id="4" name="TextBox 4"/>
            <p:cNvSpPr txBox="1"/>
            <p:nvPr/>
          </p:nvSpPr>
          <p:spPr>
            <a:xfrm>
              <a:off x="0" y="114300"/>
              <a:ext cx="9651480" cy="57201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8320"/>
                </a:lnSpc>
              </a:pPr>
              <a:r>
                <a:rPr lang="en-US" sz="8000" dirty="0">
                  <a:solidFill>
                    <a:srgbClr val="302B70"/>
                  </a:solidFill>
                  <a:latin typeface="HK Grotesk Bold"/>
                </a:rPr>
                <a:t>RFID based Library Management System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6211416"/>
              <a:ext cx="9651480" cy="563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63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718256" y="9518212"/>
            <a:ext cx="851487" cy="155656"/>
            <a:chOff x="0" y="0"/>
            <a:chExt cx="1135316" cy="207541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0" y="0"/>
              <a:ext cx="207541" cy="207541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463887" y="0"/>
              <a:ext cx="207541" cy="207541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7775" y="0"/>
              <a:ext cx="207541" cy="207541"/>
            </a:xfrm>
            <a:prstGeom prst="rect">
              <a:avLst/>
            </a:prstGeom>
          </p:spPr>
        </p:pic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192000" y="1028700"/>
            <a:ext cx="2154826" cy="2154826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5926629" y="2634731"/>
            <a:ext cx="1659092" cy="3621484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813001" y="3641353"/>
            <a:ext cx="2378999" cy="1923778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0638720" y="1850026"/>
            <a:ext cx="1631656" cy="1631656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rot="5400000">
            <a:off x="14294972" y="1790939"/>
            <a:ext cx="1631656" cy="163165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73A306C-6B74-4DB2-89A2-8678F92660B7}"/>
              </a:ext>
            </a:extLst>
          </p:cNvPr>
          <p:cNvSpPr txBox="1"/>
          <p:nvPr/>
        </p:nvSpPr>
        <p:spPr>
          <a:xfrm>
            <a:off x="1371600" y="6625090"/>
            <a:ext cx="55478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/>
              <a:t>Mentored By :</a:t>
            </a:r>
          </a:p>
          <a:p>
            <a:r>
              <a:rPr lang="id-ID" dirty="0"/>
              <a:t>	Dr.Anitha Kumari K</a:t>
            </a:r>
          </a:p>
          <a:p>
            <a:r>
              <a:rPr lang="id-ID" dirty="0"/>
              <a:t>	Associate Professor</a:t>
            </a:r>
          </a:p>
          <a:p>
            <a:r>
              <a:rPr lang="id-ID" dirty="0"/>
              <a:t>	Department of IT</a:t>
            </a:r>
          </a:p>
          <a:p>
            <a:r>
              <a:rPr lang="id-ID" dirty="0"/>
              <a:t>	PSG College of Technology</a:t>
            </a:r>
          </a:p>
          <a:p>
            <a:r>
              <a:rPr lang="id-ID" dirty="0"/>
              <a:t>	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223835"/>
            <a:ext cx="18288000" cy="4063165"/>
            <a:chOff x="0" y="0"/>
            <a:chExt cx="24384000" cy="5417553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24384000" cy="5417553"/>
            </a:xfrm>
            <a:prstGeom prst="rect">
              <a:avLst/>
            </a:prstGeom>
            <a:solidFill>
              <a:srgbClr val="787CD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371600" y="1189258"/>
              <a:ext cx="12032573" cy="30009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F0F2F6"/>
                  </a:solidFill>
                  <a:latin typeface="Clear Sans Regular"/>
                </a:rPr>
                <a:t>The idea of the project is to replace the existing Bar code readers with RFID technology in a library.  The idea of moving from conventional Bar Code system to RFID based system has many advantages.  All such advantages and features will be discussed in the upcoming slides.</a:t>
              </a:r>
            </a:p>
          </p:txBody>
        </p:sp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102054" y="1165288"/>
            <a:ext cx="3773322" cy="3773322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028700" y="1019175"/>
            <a:ext cx="9193535" cy="1221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en-US" sz="8000">
                <a:solidFill>
                  <a:srgbClr val="302B70"/>
                </a:solidFill>
                <a:latin typeface="HK Grotesk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7C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042396" cy="190555"/>
            <a:chOff x="0" y="0"/>
            <a:chExt cx="1389862" cy="254073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0" y="0"/>
              <a:ext cx="254073" cy="254073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567894" y="0"/>
              <a:ext cx="254073" cy="254073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135788" y="0"/>
              <a:ext cx="254073" cy="254073"/>
            </a:xfrm>
            <a:prstGeom prst="rect">
              <a:avLst/>
            </a:prstGeom>
          </p:spPr>
        </p:pic>
      </p:grpSp>
      <p:sp>
        <p:nvSpPr>
          <p:cNvPr id="6" name="TextBox 6"/>
          <p:cNvSpPr txBox="1"/>
          <p:nvPr/>
        </p:nvSpPr>
        <p:spPr>
          <a:xfrm>
            <a:off x="1028700" y="4277698"/>
            <a:ext cx="6447870" cy="3332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F0F2F6"/>
                </a:solidFill>
                <a:latin typeface="Clear Sans Regular"/>
              </a:rPr>
              <a:t>The objective of this project is to develop a Library Management System which will function far more efficient than the conventional library management system.</a:t>
            </a:r>
          </a:p>
        </p:txBody>
      </p:sp>
      <p:sp>
        <p:nvSpPr>
          <p:cNvPr id="7" name="AutoShape 7"/>
          <p:cNvSpPr/>
          <p:nvPr/>
        </p:nvSpPr>
        <p:spPr>
          <a:xfrm>
            <a:off x="9059898" y="0"/>
            <a:ext cx="9228102" cy="2582583"/>
          </a:xfrm>
          <a:prstGeom prst="rect">
            <a:avLst/>
          </a:prstGeom>
          <a:solidFill>
            <a:srgbClr val="302B70">
              <a:alpha val="49803"/>
            </a:srgbClr>
          </a:solidFill>
        </p:spPr>
      </p:sp>
      <p:sp>
        <p:nvSpPr>
          <p:cNvPr id="8" name="AutoShape 8"/>
          <p:cNvSpPr/>
          <p:nvPr/>
        </p:nvSpPr>
        <p:spPr>
          <a:xfrm>
            <a:off x="9059898" y="2582583"/>
            <a:ext cx="9228102" cy="2582583"/>
          </a:xfrm>
          <a:prstGeom prst="rect">
            <a:avLst/>
          </a:prstGeom>
          <a:solidFill>
            <a:srgbClr val="302B70">
              <a:alpha val="69803"/>
            </a:srgbClr>
          </a:solidFill>
        </p:spPr>
      </p:sp>
      <p:sp>
        <p:nvSpPr>
          <p:cNvPr id="9" name="AutoShape 9"/>
          <p:cNvSpPr/>
          <p:nvPr/>
        </p:nvSpPr>
        <p:spPr>
          <a:xfrm>
            <a:off x="9059898" y="7747749"/>
            <a:ext cx="9228102" cy="2582583"/>
          </a:xfrm>
          <a:prstGeom prst="rect">
            <a:avLst/>
          </a:prstGeom>
          <a:solidFill>
            <a:srgbClr val="302B70"/>
          </a:solidFill>
        </p:spPr>
      </p:sp>
      <p:sp>
        <p:nvSpPr>
          <p:cNvPr id="10" name="AutoShape 10"/>
          <p:cNvSpPr/>
          <p:nvPr/>
        </p:nvSpPr>
        <p:spPr>
          <a:xfrm>
            <a:off x="9059898" y="5165166"/>
            <a:ext cx="9228102" cy="2582583"/>
          </a:xfrm>
          <a:prstGeom prst="rect">
            <a:avLst/>
          </a:prstGeom>
          <a:solidFill>
            <a:srgbClr val="302B70">
              <a:alpha val="80000"/>
            </a:srgbClr>
          </a:solidFill>
        </p:spPr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95554" y="8320529"/>
            <a:ext cx="1875542" cy="1875542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028700" y="2118357"/>
            <a:ext cx="6447870" cy="852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720"/>
              </a:lnSpc>
            </a:pPr>
            <a:r>
              <a:rPr lang="en-US" sz="5600" dirty="0">
                <a:solidFill>
                  <a:srgbClr val="F0F2F6"/>
                </a:solidFill>
                <a:latin typeface="HK Grotesk Bold"/>
              </a:rPr>
              <a:t>Objective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683401" y="599304"/>
            <a:ext cx="7981095" cy="1383976"/>
            <a:chOff x="0" y="0"/>
            <a:chExt cx="10641461" cy="1845301"/>
          </a:xfrm>
        </p:grpSpPr>
        <p:sp>
          <p:nvSpPr>
            <p:cNvPr id="14" name="TextBox 14"/>
            <p:cNvSpPr txBox="1"/>
            <p:nvPr/>
          </p:nvSpPr>
          <p:spPr>
            <a:xfrm>
              <a:off x="0" y="0"/>
              <a:ext cx="10641461" cy="707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199"/>
                </a:lnSpc>
              </a:pPr>
              <a:r>
                <a:rPr lang="en-US" sz="3499">
                  <a:solidFill>
                    <a:srgbClr val="F0F2F6"/>
                  </a:solidFill>
                  <a:latin typeface="HK Grotesk Bold"/>
                </a:rPr>
                <a:t>RFID Cards for everyone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794411"/>
              <a:ext cx="10641461" cy="1050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219"/>
                </a:lnSpc>
                <a:spcBef>
                  <a:spcPct val="0"/>
                </a:spcBef>
              </a:pPr>
              <a:r>
                <a:rPr lang="en-US" sz="2299" spc="-34">
                  <a:solidFill>
                    <a:srgbClr val="F0F2F6"/>
                  </a:solidFill>
                  <a:latin typeface="Clear Sans Regular"/>
                </a:rPr>
                <a:t>Every student will be given an RFID Card to get and return the books.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683401" y="3181887"/>
            <a:ext cx="7981095" cy="1383976"/>
            <a:chOff x="0" y="0"/>
            <a:chExt cx="10641461" cy="1845301"/>
          </a:xfrm>
        </p:grpSpPr>
        <p:sp>
          <p:nvSpPr>
            <p:cNvPr id="17" name="TextBox 17"/>
            <p:cNvSpPr txBox="1"/>
            <p:nvPr/>
          </p:nvSpPr>
          <p:spPr>
            <a:xfrm>
              <a:off x="0" y="0"/>
              <a:ext cx="10641461" cy="707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199"/>
                </a:lnSpc>
              </a:pPr>
              <a:r>
                <a:rPr lang="en-US" sz="3499">
                  <a:solidFill>
                    <a:srgbClr val="F0F2F6"/>
                  </a:solidFill>
                  <a:latin typeface="HK Grotesk Bold"/>
                </a:rPr>
                <a:t>Return counter machine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794411"/>
              <a:ext cx="10641461" cy="1050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219"/>
                </a:lnSpc>
                <a:spcBef>
                  <a:spcPct val="0"/>
                </a:spcBef>
              </a:pPr>
              <a:r>
                <a:rPr lang="en-US" sz="2299" spc="-34">
                  <a:solidFill>
                    <a:srgbClr val="F0F2F6"/>
                  </a:solidFill>
                  <a:latin typeface="Clear Sans Regular"/>
                </a:rPr>
                <a:t>A return counter for books can be setup so that the books can be returned by the students by themselves.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683401" y="5764469"/>
            <a:ext cx="7981095" cy="1383976"/>
            <a:chOff x="0" y="0"/>
            <a:chExt cx="10641461" cy="1845301"/>
          </a:xfrm>
        </p:grpSpPr>
        <p:sp>
          <p:nvSpPr>
            <p:cNvPr id="20" name="TextBox 20"/>
            <p:cNvSpPr txBox="1"/>
            <p:nvPr/>
          </p:nvSpPr>
          <p:spPr>
            <a:xfrm>
              <a:off x="0" y="0"/>
              <a:ext cx="10641461" cy="707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199"/>
                </a:lnSpc>
              </a:pPr>
              <a:r>
                <a:rPr lang="en-US" sz="3499">
                  <a:solidFill>
                    <a:srgbClr val="F0F2F6"/>
                  </a:solidFill>
                  <a:latin typeface="HK Grotesk Bold"/>
                </a:rPr>
                <a:t>RFID Cards for Books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794411"/>
              <a:ext cx="10641461" cy="1050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219"/>
                </a:lnSpc>
                <a:spcBef>
                  <a:spcPct val="0"/>
                </a:spcBef>
              </a:pPr>
              <a:r>
                <a:rPr lang="en-US" sz="2299" spc="-34">
                  <a:solidFill>
                    <a:srgbClr val="F0F2F6"/>
                  </a:solidFill>
                  <a:latin typeface="Clear Sans Regular"/>
                </a:rPr>
                <a:t>Once RFID cards are placed in Books, a quick survey can be taken for the whole library in minutes.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683401" y="8347052"/>
            <a:ext cx="7981095" cy="1383976"/>
            <a:chOff x="0" y="0"/>
            <a:chExt cx="10641461" cy="1845301"/>
          </a:xfrm>
        </p:grpSpPr>
        <p:sp>
          <p:nvSpPr>
            <p:cNvPr id="23" name="TextBox 23"/>
            <p:cNvSpPr txBox="1"/>
            <p:nvPr/>
          </p:nvSpPr>
          <p:spPr>
            <a:xfrm>
              <a:off x="0" y="0"/>
              <a:ext cx="10641461" cy="707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199"/>
                </a:lnSpc>
              </a:pPr>
              <a:r>
                <a:rPr lang="en-US" sz="3499">
                  <a:solidFill>
                    <a:srgbClr val="F0F2F6"/>
                  </a:solidFill>
                  <a:latin typeface="HK Grotesk Bold"/>
                </a:rPr>
                <a:t>Online Portal 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794411"/>
              <a:ext cx="10641461" cy="1050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219"/>
                </a:lnSpc>
                <a:spcBef>
                  <a:spcPct val="0"/>
                </a:spcBef>
              </a:pPr>
              <a:r>
                <a:rPr lang="en-US" sz="2299" spc="-34">
                  <a:solidFill>
                    <a:srgbClr val="F0F2F6"/>
                  </a:solidFill>
                  <a:latin typeface="Clear Sans Regular"/>
                </a:rPr>
                <a:t>An online portal is hosted where all the students can check the status of all the books that must be returned.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7C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83196" y="3761610"/>
            <a:ext cx="4451844" cy="2071362"/>
            <a:chOff x="0" y="0"/>
            <a:chExt cx="6667622" cy="31023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67622" cy="3102323"/>
            </a:xfrm>
            <a:custGeom>
              <a:avLst/>
              <a:gdLst/>
              <a:ahLst/>
              <a:cxnLst/>
              <a:rect l="l" t="t" r="r" b="b"/>
              <a:pathLst>
                <a:path w="6667622" h="3102323">
                  <a:moveTo>
                    <a:pt x="0" y="0"/>
                  </a:moveTo>
                  <a:lnTo>
                    <a:pt x="0" y="3102323"/>
                  </a:lnTo>
                  <a:lnTo>
                    <a:pt x="6667622" y="3102323"/>
                  </a:lnTo>
                  <a:lnTo>
                    <a:pt x="6667622" y="0"/>
                  </a:lnTo>
                  <a:lnTo>
                    <a:pt x="0" y="0"/>
                  </a:lnTo>
                  <a:close/>
                  <a:moveTo>
                    <a:pt x="6606661" y="3041363"/>
                  </a:moveTo>
                  <a:lnTo>
                    <a:pt x="59690" y="3041363"/>
                  </a:lnTo>
                  <a:lnTo>
                    <a:pt x="59690" y="59690"/>
                  </a:lnTo>
                  <a:lnTo>
                    <a:pt x="6606662" y="59690"/>
                  </a:lnTo>
                  <a:lnTo>
                    <a:pt x="6606662" y="30413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170395" y="4310889"/>
            <a:ext cx="825601" cy="972803"/>
            <a:chOff x="0" y="0"/>
            <a:chExt cx="1100801" cy="129707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 l="7565" r="7565"/>
            <a:stretch>
              <a:fillRect/>
            </a:stretch>
          </p:blipFill>
          <p:spPr>
            <a:xfrm>
              <a:off x="0" y="0"/>
              <a:ext cx="1100801" cy="1297070"/>
            </a:xfrm>
            <a:prstGeom prst="rect">
              <a:avLst/>
            </a:prstGeom>
          </p:spPr>
        </p:pic>
        <p:sp>
          <p:nvSpPr>
            <p:cNvPr id="6" name="TextBox 6"/>
            <p:cNvSpPr txBox="1"/>
            <p:nvPr/>
          </p:nvSpPr>
          <p:spPr>
            <a:xfrm>
              <a:off x="143037" y="239451"/>
              <a:ext cx="814728" cy="7705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16"/>
                </a:lnSpc>
                <a:spcBef>
                  <a:spcPct val="0"/>
                </a:spcBef>
              </a:pPr>
              <a:r>
                <a:rPr lang="en-US" sz="3600" u="none">
                  <a:solidFill>
                    <a:srgbClr val="FFFFFF"/>
                  </a:solidFill>
                  <a:latin typeface="Aileron Heavy"/>
                </a:rPr>
                <a:t>01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124478" y="3761610"/>
            <a:ext cx="4451844" cy="2071362"/>
            <a:chOff x="0" y="0"/>
            <a:chExt cx="6667622" cy="310232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667622" cy="3102323"/>
            </a:xfrm>
            <a:custGeom>
              <a:avLst/>
              <a:gdLst/>
              <a:ahLst/>
              <a:cxnLst/>
              <a:rect l="l" t="t" r="r" b="b"/>
              <a:pathLst>
                <a:path w="6667622" h="3102323">
                  <a:moveTo>
                    <a:pt x="0" y="0"/>
                  </a:moveTo>
                  <a:lnTo>
                    <a:pt x="0" y="3102323"/>
                  </a:lnTo>
                  <a:lnTo>
                    <a:pt x="6667622" y="3102323"/>
                  </a:lnTo>
                  <a:lnTo>
                    <a:pt x="6667622" y="0"/>
                  </a:lnTo>
                  <a:lnTo>
                    <a:pt x="0" y="0"/>
                  </a:lnTo>
                  <a:close/>
                  <a:moveTo>
                    <a:pt x="6606661" y="3041363"/>
                  </a:moveTo>
                  <a:lnTo>
                    <a:pt x="59690" y="3041363"/>
                  </a:lnTo>
                  <a:lnTo>
                    <a:pt x="59690" y="59690"/>
                  </a:lnTo>
                  <a:lnTo>
                    <a:pt x="6606662" y="59690"/>
                  </a:lnTo>
                  <a:lnTo>
                    <a:pt x="6606662" y="30413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711678" y="4310889"/>
            <a:ext cx="825601" cy="972803"/>
            <a:chOff x="0" y="0"/>
            <a:chExt cx="1100801" cy="1297070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3"/>
            <a:srcRect l="7565" r="7565"/>
            <a:stretch>
              <a:fillRect/>
            </a:stretch>
          </p:blipFill>
          <p:spPr>
            <a:xfrm>
              <a:off x="0" y="0"/>
              <a:ext cx="1100801" cy="129707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143037" y="239451"/>
              <a:ext cx="814728" cy="7705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16"/>
                </a:lnSpc>
                <a:spcBef>
                  <a:spcPct val="0"/>
                </a:spcBef>
              </a:pPr>
              <a:r>
                <a:rPr lang="en-US" sz="3600" u="none">
                  <a:solidFill>
                    <a:srgbClr val="FFFFFF"/>
                  </a:solidFill>
                  <a:latin typeface="Aileron Heavy"/>
                </a:rPr>
                <a:t>02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675286" y="3761610"/>
            <a:ext cx="4584014" cy="2071362"/>
            <a:chOff x="0" y="0"/>
            <a:chExt cx="6865576" cy="310232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865576" cy="3102323"/>
            </a:xfrm>
            <a:custGeom>
              <a:avLst/>
              <a:gdLst/>
              <a:ahLst/>
              <a:cxnLst/>
              <a:rect l="l" t="t" r="r" b="b"/>
              <a:pathLst>
                <a:path w="6865576" h="3102323">
                  <a:moveTo>
                    <a:pt x="0" y="0"/>
                  </a:moveTo>
                  <a:lnTo>
                    <a:pt x="0" y="3102323"/>
                  </a:lnTo>
                  <a:lnTo>
                    <a:pt x="6865576" y="3102323"/>
                  </a:lnTo>
                  <a:lnTo>
                    <a:pt x="6865576" y="0"/>
                  </a:lnTo>
                  <a:lnTo>
                    <a:pt x="0" y="0"/>
                  </a:lnTo>
                  <a:close/>
                  <a:moveTo>
                    <a:pt x="6804616" y="3041363"/>
                  </a:moveTo>
                  <a:lnTo>
                    <a:pt x="59690" y="3041363"/>
                  </a:lnTo>
                  <a:lnTo>
                    <a:pt x="59690" y="59690"/>
                  </a:lnTo>
                  <a:lnTo>
                    <a:pt x="6804616" y="59690"/>
                  </a:lnTo>
                  <a:lnTo>
                    <a:pt x="6804616" y="30413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2262485" y="4310889"/>
            <a:ext cx="825601" cy="972803"/>
            <a:chOff x="0" y="0"/>
            <a:chExt cx="1100801" cy="1297070"/>
          </a:xfrm>
        </p:grpSpPr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4"/>
            <a:srcRect l="7565" r="7565"/>
            <a:stretch>
              <a:fillRect/>
            </a:stretch>
          </p:blipFill>
          <p:spPr>
            <a:xfrm>
              <a:off x="0" y="0"/>
              <a:ext cx="1100801" cy="1297070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143037" y="239451"/>
              <a:ext cx="814728" cy="7705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16"/>
                </a:lnSpc>
                <a:spcBef>
                  <a:spcPct val="0"/>
                </a:spcBef>
              </a:pPr>
              <a:r>
                <a:rPr lang="en-US" sz="3600" u="none">
                  <a:solidFill>
                    <a:srgbClr val="FFFFFF"/>
                  </a:solidFill>
                  <a:latin typeface="Aileron Heavy"/>
                </a:rPr>
                <a:t>03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53837" y="6846869"/>
            <a:ext cx="4451844" cy="2071362"/>
            <a:chOff x="0" y="0"/>
            <a:chExt cx="6667622" cy="310232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667622" cy="3102323"/>
            </a:xfrm>
            <a:custGeom>
              <a:avLst/>
              <a:gdLst/>
              <a:ahLst/>
              <a:cxnLst/>
              <a:rect l="l" t="t" r="r" b="b"/>
              <a:pathLst>
                <a:path w="6667622" h="3102323">
                  <a:moveTo>
                    <a:pt x="0" y="0"/>
                  </a:moveTo>
                  <a:lnTo>
                    <a:pt x="0" y="3102323"/>
                  </a:lnTo>
                  <a:lnTo>
                    <a:pt x="6667622" y="3102323"/>
                  </a:lnTo>
                  <a:lnTo>
                    <a:pt x="6667622" y="0"/>
                  </a:lnTo>
                  <a:lnTo>
                    <a:pt x="0" y="0"/>
                  </a:lnTo>
                  <a:close/>
                  <a:moveTo>
                    <a:pt x="6606661" y="3041363"/>
                  </a:moveTo>
                  <a:lnTo>
                    <a:pt x="59690" y="3041363"/>
                  </a:lnTo>
                  <a:lnTo>
                    <a:pt x="59690" y="59690"/>
                  </a:lnTo>
                  <a:lnTo>
                    <a:pt x="6606662" y="59690"/>
                  </a:lnTo>
                  <a:lnTo>
                    <a:pt x="6606662" y="30413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3941037" y="7396149"/>
            <a:ext cx="825601" cy="972803"/>
            <a:chOff x="0" y="0"/>
            <a:chExt cx="1100801" cy="1297070"/>
          </a:xfrm>
        </p:grpSpPr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5"/>
            <a:srcRect l="7565" r="7565"/>
            <a:stretch>
              <a:fillRect/>
            </a:stretch>
          </p:blipFill>
          <p:spPr>
            <a:xfrm>
              <a:off x="0" y="0"/>
              <a:ext cx="1100801" cy="1297070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143037" y="239451"/>
              <a:ext cx="814728" cy="7705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16"/>
                </a:lnSpc>
                <a:spcBef>
                  <a:spcPct val="0"/>
                </a:spcBef>
              </a:pPr>
              <a:r>
                <a:rPr lang="en-US" sz="3600" u="none">
                  <a:solidFill>
                    <a:srgbClr val="FFFFFF"/>
                  </a:solidFill>
                  <a:latin typeface="Aileron Heavy"/>
                </a:rPr>
                <a:t>05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895119" y="6846869"/>
            <a:ext cx="4451844" cy="2071362"/>
            <a:chOff x="0" y="0"/>
            <a:chExt cx="6667622" cy="310232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667622" cy="3102323"/>
            </a:xfrm>
            <a:custGeom>
              <a:avLst/>
              <a:gdLst/>
              <a:ahLst/>
              <a:cxnLst/>
              <a:rect l="l" t="t" r="r" b="b"/>
              <a:pathLst>
                <a:path w="6667622" h="3102323">
                  <a:moveTo>
                    <a:pt x="0" y="0"/>
                  </a:moveTo>
                  <a:lnTo>
                    <a:pt x="0" y="3102323"/>
                  </a:lnTo>
                  <a:lnTo>
                    <a:pt x="6667622" y="3102323"/>
                  </a:lnTo>
                  <a:lnTo>
                    <a:pt x="6667622" y="0"/>
                  </a:lnTo>
                  <a:lnTo>
                    <a:pt x="0" y="0"/>
                  </a:lnTo>
                  <a:close/>
                  <a:moveTo>
                    <a:pt x="6606661" y="3041363"/>
                  </a:moveTo>
                  <a:lnTo>
                    <a:pt x="59690" y="3041363"/>
                  </a:lnTo>
                  <a:lnTo>
                    <a:pt x="59690" y="59690"/>
                  </a:lnTo>
                  <a:lnTo>
                    <a:pt x="6606662" y="59690"/>
                  </a:lnTo>
                  <a:lnTo>
                    <a:pt x="6606662" y="30413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9482319" y="7396149"/>
            <a:ext cx="825601" cy="972803"/>
            <a:chOff x="0" y="0"/>
            <a:chExt cx="1100801" cy="1297070"/>
          </a:xfrm>
        </p:grpSpPr>
        <p:pic>
          <p:nvPicPr>
            <p:cNvPr id="25" name="Picture 25"/>
            <p:cNvPicPr>
              <a:picLocks noChangeAspect="1"/>
            </p:cNvPicPr>
            <p:nvPr/>
          </p:nvPicPr>
          <p:blipFill>
            <a:blip r:embed="rId6"/>
            <a:srcRect l="7565" r="7565"/>
            <a:stretch>
              <a:fillRect/>
            </a:stretch>
          </p:blipFill>
          <p:spPr>
            <a:xfrm>
              <a:off x="0" y="0"/>
              <a:ext cx="1100801" cy="1297070"/>
            </a:xfrm>
            <a:prstGeom prst="rect">
              <a:avLst/>
            </a:prstGeom>
          </p:spPr>
        </p:pic>
        <p:sp>
          <p:nvSpPr>
            <p:cNvPr id="26" name="TextBox 26"/>
            <p:cNvSpPr txBox="1"/>
            <p:nvPr/>
          </p:nvSpPr>
          <p:spPr>
            <a:xfrm>
              <a:off x="143037" y="239451"/>
              <a:ext cx="814728" cy="7705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16"/>
                </a:lnSpc>
                <a:spcBef>
                  <a:spcPct val="0"/>
                </a:spcBef>
              </a:pPr>
              <a:r>
                <a:rPr lang="en-US" sz="3600" u="none">
                  <a:solidFill>
                    <a:srgbClr val="FFFFFF"/>
                  </a:solidFill>
                  <a:latin typeface="Aileron Heavy"/>
                </a:rPr>
                <a:t>04</a:t>
              </a:r>
            </a:p>
          </p:txBody>
        </p:sp>
      </p:grpSp>
      <p:sp>
        <p:nvSpPr>
          <p:cNvPr id="27" name="AutoShape 27"/>
          <p:cNvSpPr/>
          <p:nvPr/>
        </p:nvSpPr>
        <p:spPr>
          <a:xfrm>
            <a:off x="6025515" y="4797291"/>
            <a:ext cx="686163" cy="4720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8" name="AutoShape 28"/>
          <p:cNvSpPr/>
          <p:nvPr/>
        </p:nvSpPr>
        <p:spPr>
          <a:xfrm>
            <a:off x="11576322" y="4750089"/>
            <a:ext cx="686163" cy="4720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9" name="AutoShape 29"/>
          <p:cNvSpPr/>
          <p:nvPr/>
        </p:nvSpPr>
        <p:spPr>
          <a:xfrm>
            <a:off x="8796156" y="7882550"/>
            <a:ext cx="686163" cy="4720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0" name="AutoShape 30"/>
          <p:cNvSpPr/>
          <p:nvPr/>
        </p:nvSpPr>
        <p:spPr>
          <a:xfrm rot="-5400000">
            <a:off x="13984988" y="6834160"/>
            <a:ext cx="2049579" cy="4720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1" name="AutoShape 31"/>
          <p:cNvSpPr/>
          <p:nvPr/>
        </p:nvSpPr>
        <p:spPr>
          <a:xfrm>
            <a:off x="14347215" y="7882550"/>
            <a:ext cx="686163" cy="47202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16705" y="7816650"/>
            <a:ext cx="2107380" cy="2107380"/>
          </a:xfrm>
          <a:prstGeom prst="rect">
            <a:avLst/>
          </a:prstGeom>
        </p:spPr>
      </p:pic>
      <p:grpSp>
        <p:nvGrpSpPr>
          <p:cNvPr id="33" name="Group 33"/>
          <p:cNvGrpSpPr/>
          <p:nvPr/>
        </p:nvGrpSpPr>
        <p:grpSpPr>
          <a:xfrm>
            <a:off x="4929517" y="999709"/>
            <a:ext cx="8428965" cy="1017861"/>
            <a:chOff x="0" y="0"/>
            <a:chExt cx="11238620" cy="1357148"/>
          </a:xfrm>
        </p:grpSpPr>
        <p:sp>
          <p:nvSpPr>
            <p:cNvPr id="34" name="TextBox 34"/>
            <p:cNvSpPr txBox="1"/>
            <p:nvPr/>
          </p:nvSpPr>
          <p:spPr>
            <a:xfrm>
              <a:off x="0" y="-47625"/>
              <a:ext cx="11238620" cy="7730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16"/>
                </a:lnSpc>
                <a:spcBef>
                  <a:spcPct val="0"/>
                </a:spcBef>
              </a:pPr>
              <a:r>
                <a:rPr lang="en-US" sz="3600" spc="107">
                  <a:solidFill>
                    <a:srgbClr val="FFFFFF"/>
                  </a:solidFill>
                  <a:latin typeface="Aileron Heavy"/>
                </a:rPr>
                <a:t>Implementation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778452"/>
              <a:ext cx="11238620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40"/>
                </a:lnSpc>
              </a:pPr>
              <a:r>
                <a:rPr lang="en-US" sz="2600" spc="130">
                  <a:solidFill>
                    <a:srgbClr val="FFFFFF"/>
                  </a:solidFill>
                  <a:latin typeface="Aileron Regular"/>
                </a:rPr>
                <a:t>A quick glance on the implemented features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049486" y="4182881"/>
            <a:ext cx="3519264" cy="1228819"/>
            <a:chOff x="0" y="0"/>
            <a:chExt cx="4692352" cy="1638426"/>
          </a:xfrm>
        </p:grpSpPr>
        <p:sp>
          <p:nvSpPr>
            <p:cNvPr id="37" name="TextBox 37"/>
            <p:cNvSpPr txBox="1"/>
            <p:nvPr/>
          </p:nvSpPr>
          <p:spPr>
            <a:xfrm>
              <a:off x="0" y="-28575"/>
              <a:ext cx="4692352" cy="5477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4"/>
                </a:lnSpc>
                <a:spcBef>
                  <a:spcPct val="0"/>
                </a:spcBef>
              </a:pPr>
              <a:r>
                <a:rPr lang="en-US" sz="2600" spc="101">
                  <a:solidFill>
                    <a:srgbClr val="FFFFFF"/>
                  </a:solidFill>
                  <a:latin typeface="Aileron Regular Bold"/>
                </a:rPr>
                <a:t>RFID SETUP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677670"/>
              <a:ext cx="4692352" cy="9607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2000" spc="100">
                  <a:solidFill>
                    <a:srgbClr val="FFFFFF"/>
                  </a:solidFill>
                  <a:latin typeface="Aileron Regular"/>
                </a:rPr>
                <a:t>An RFID reader is setup for reading the RFID data.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722687" y="4182881"/>
            <a:ext cx="3519264" cy="1228819"/>
            <a:chOff x="0" y="0"/>
            <a:chExt cx="4692352" cy="1638426"/>
          </a:xfrm>
        </p:grpSpPr>
        <p:sp>
          <p:nvSpPr>
            <p:cNvPr id="40" name="TextBox 40"/>
            <p:cNvSpPr txBox="1"/>
            <p:nvPr/>
          </p:nvSpPr>
          <p:spPr>
            <a:xfrm>
              <a:off x="0" y="-28575"/>
              <a:ext cx="4692352" cy="5477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4"/>
                </a:lnSpc>
                <a:spcBef>
                  <a:spcPct val="0"/>
                </a:spcBef>
              </a:pPr>
              <a:r>
                <a:rPr lang="en-US" sz="2600" spc="101">
                  <a:solidFill>
                    <a:srgbClr val="FFFFFF"/>
                  </a:solidFill>
                  <a:latin typeface="Aileron Regular Bold"/>
                </a:rPr>
                <a:t>WEBSITE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677670"/>
              <a:ext cx="4692352" cy="9607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2000" spc="100">
                  <a:solidFill>
                    <a:srgbClr val="FFFFFF"/>
                  </a:solidFill>
                  <a:latin typeface="Aileron Regular"/>
                </a:rPr>
                <a:t>A website is created with many features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3116425" y="3972590"/>
            <a:ext cx="3938069" cy="1602199"/>
            <a:chOff x="0" y="0"/>
            <a:chExt cx="5250759" cy="2136265"/>
          </a:xfrm>
        </p:grpSpPr>
        <p:sp>
          <p:nvSpPr>
            <p:cNvPr id="43" name="TextBox 43"/>
            <p:cNvSpPr txBox="1"/>
            <p:nvPr/>
          </p:nvSpPr>
          <p:spPr>
            <a:xfrm>
              <a:off x="0" y="-28575"/>
              <a:ext cx="5250759" cy="5477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4"/>
                </a:lnSpc>
                <a:spcBef>
                  <a:spcPct val="0"/>
                </a:spcBef>
              </a:pPr>
              <a:r>
                <a:rPr lang="en-US" sz="2600" spc="101">
                  <a:solidFill>
                    <a:srgbClr val="FFFFFF"/>
                  </a:solidFill>
                  <a:latin typeface="Aileron Regular Bold"/>
                </a:rPr>
                <a:t>LOGIN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677670"/>
              <a:ext cx="5250759" cy="14585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2000" spc="100">
                  <a:solidFill>
                    <a:srgbClr val="FFFFFF"/>
                  </a:solidFill>
                  <a:latin typeface="Aileron Regular"/>
                </a:rPr>
                <a:t>Users and Librarians can login and check the current status of the books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952046" y="6871901"/>
            <a:ext cx="3519264" cy="2021299"/>
            <a:chOff x="0" y="0"/>
            <a:chExt cx="4692352" cy="2695065"/>
          </a:xfrm>
        </p:grpSpPr>
        <p:sp>
          <p:nvSpPr>
            <p:cNvPr id="46" name="TextBox 46"/>
            <p:cNvSpPr txBox="1"/>
            <p:nvPr/>
          </p:nvSpPr>
          <p:spPr>
            <a:xfrm>
              <a:off x="0" y="-28575"/>
              <a:ext cx="4692352" cy="11065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4"/>
                </a:lnSpc>
                <a:spcBef>
                  <a:spcPct val="0"/>
                </a:spcBef>
              </a:pPr>
              <a:r>
                <a:rPr lang="en-US" sz="2600" spc="101">
                  <a:solidFill>
                    <a:srgbClr val="FFFFFF"/>
                  </a:solidFill>
                  <a:latin typeface="Aileron Regular Bold"/>
                </a:rPr>
                <a:t>BORROW AND RETURN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1236470"/>
              <a:ext cx="4692352" cy="14585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2000" spc="100">
                  <a:solidFill>
                    <a:srgbClr val="FFFFFF"/>
                  </a:solidFill>
                  <a:latin typeface="Aileron Regular"/>
                </a:rPr>
                <a:t>Users can borrow and return the book using the same website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499589" y="6894761"/>
            <a:ext cx="3519264" cy="1975579"/>
            <a:chOff x="0" y="0"/>
            <a:chExt cx="4692352" cy="2634106"/>
          </a:xfrm>
        </p:grpSpPr>
        <p:sp>
          <p:nvSpPr>
            <p:cNvPr id="49" name="TextBox 49"/>
            <p:cNvSpPr txBox="1"/>
            <p:nvPr/>
          </p:nvSpPr>
          <p:spPr>
            <a:xfrm>
              <a:off x="0" y="-28575"/>
              <a:ext cx="4692352" cy="5477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4"/>
                </a:lnSpc>
                <a:spcBef>
                  <a:spcPct val="0"/>
                </a:spcBef>
              </a:pPr>
              <a:r>
                <a:rPr lang="en-US" sz="2600" spc="101">
                  <a:solidFill>
                    <a:srgbClr val="FFFFFF"/>
                  </a:solidFill>
                  <a:latin typeface="Aileron Regular Bold"/>
                </a:rPr>
                <a:t>QUICK SURVEY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677670"/>
              <a:ext cx="4692352" cy="1956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2000" spc="100">
                  <a:solidFill>
                    <a:srgbClr val="FFFFFF"/>
                  </a:solidFill>
                  <a:latin typeface="Aileron Regular"/>
                </a:rPr>
                <a:t>Librarians can take a quick survey of the entire books in the library in a matter of few minutes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9061011"/>
            <a:ext cx="18288000" cy="1225989"/>
          </a:xfrm>
          <a:prstGeom prst="rect">
            <a:avLst/>
          </a:prstGeom>
          <a:solidFill>
            <a:srgbClr val="787CD1"/>
          </a:solidFill>
        </p:spPr>
      </p:sp>
      <p:grpSp>
        <p:nvGrpSpPr>
          <p:cNvPr id="3" name="Group 3"/>
          <p:cNvGrpSpPr/>
          <p:nvPr/>
        </p:nvGrpSpPr>
        <p:grpSpPr>
          <a:xfrm rot="-10800000">
            <a:off x="8622802" y="9578728"/>
            <a:ext cx="1042396" cy="190555"/>
            <a:chOff x="0" y="0"/>
            <a:chExt cx="1389862" cy="254073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0" y="0"/>
              <a:ext cx="254073" cy="254073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567894" y="0"/>
              <a:ext cx="254073" cy="254073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135788" y="0"/>
              <a:ext cx="254073" cy="254073"/>
            </a:xfrm>
            <a:prstGeom prst="rect">
              <a:avLst/>
            </a:prstGeom>
          </p:spPr>
        </p:pic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415389" y="1614573"/>
            <a:ext cx="13457222" cy="7191203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696525" y="452456"/>
            <a:ext cx="11504636" cy="1870226"/>
            <a:chOff x="0" y="0"/>
            <a:chExt cx="15339515" cy="2493634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15339515" cy="16261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9600"/>
                </a:lnSpc>
              </a:pPr>
              <a:r>
                <a:rPr lang="en-US" sz="8000">
                  <a:solidFill>
                    <a:srgbClr val="302B70"/>
                  </a:solidFill>
                  <a:latin typeface="HK Grotesk Bold"/>
                </a:rPr>
                <a:t>Screenshots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933410"/>
              <a:ext cx="15339515" cy="560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63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9061011"/>
            <a:ext cx="18288000" cy="1225989"/>
          </a:xfrm>
          <a:prstGeom prst="rect">
            <a:avLst/>
          </a:prstGeom>
          <a:solidFill>
            <a:srgbClr val="787CD1"/>
          </a:solidFill>
        </p:spPr>
      </p:sp>
      <p:grpSp>
        <p:nvGrpSpPr>
          <p:cNvPr id="3" name="Group 3"/>
          <p:cNvGrpSpPr/>
          <p:nvPr/>
        </p:nvGrpSpPr>
        <p:grpSpPr>
          <a:xfrm rot="-10800000">
            <a:off x="8622802" y="9578728"/>
            <a:ext cx="1042396" cy="190555"/>
            <a:chOff x="0" y="0"/>
            <a:chExt cx="1389862" cy="254073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0" y="0"/>
              <a:ext cx="254073" cy="254073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567894" y="0"/>
              <a:ext cx="254073" cy="254073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35788" y="0"/>
              <a:ext cx="254073" cy="254073"/>
            </a:xfrm>
            <a:prstGeom prst="rect">
              <a:avLst/>
            </a:prstGeom>
          </p:spPr>
        </p:pic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415389" y="1588515"/>
            <a:ext cx="13457222" cy="7205221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696525" y="452456"/>
            <a:ext cx="11504636" cy="1870226"/>
            <a:chOff x="0" y="0"/>
            <a:chExt cx="15339515" cy="2493634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15339515" cy="16261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9600"/>
                </a:lnSpc>
              </a:pPr>
              <a:r>
                <a:rPr lang="en-US" sz="8000">
                  <a:solidFill>
                    <a:srgbClr val="302B70"/>
                  </a:solidFill>
                  <a:latin typeface="HK Grotesk Bold"/>
                </a:rPr>
                <a:t>Screenshots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933410"/>
              <a:ext cx="15339515" cy="560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63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8775001"/>
          </a:xfrm>
          <a:prstGeom prst="rect">
            <a:avLst/>
          </a:prstGeom>
          <a:solidFill>
            <a:srgbClr val="787CD1"/>
          </a:solidFill>
        </p:spPr>
      </p:sp>
      <p:sp>
        <p:nvSpPr>
          <p:cNvPr id="3" name="TextBox 3"/>
          <p:cNvSpPr txBox="1"/>
          <p:nvPr/>
        </p:nvSpPr>
        <p:spPr>
          <a:xfrm>
            <a:off x="1028700" y="1028700"/>
            <a:ext cx="5845110" cy="2270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999"/>
              </a:lnSpc>
            </a:pPr>
            <a:r>
              <a:rPr lang="en-US" sz="7500">
                <a:solidFill>
                  <a:srgbClr val="F0F2F6"/>
                </a:solidFill>
                <a:latin typeface="HK Grotesk Bold"/>
              </a:rPr>
              <a:t>Outcome of</a:t>
            </a:r>
          </a:p>
          <a:p>
            <a:pPr>
              <a:lnSpc>
                <a:spcPts val="9000"/>
              </a:lnSpc>
            </a:pPr>
            <a:r>
              <a:rPr lang="en-US" sz="7499">
                <a:solidFill>
                  <a:srgbClr val="F0F2F6"/>
                </a:solidFill>
                <a:latin typeface="HK Grotesk Bold"/>
              </a:rPr>
              <a:t>Research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622802" y="619430"/>
            <a:ext cx="8636498" cy="7536142"/>
            <a:chOff x="0" y="0"/>
            <a:chExt cx="11515331" cy="10048189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1515331" cy="10117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6000"/>
                </a:lnSpc>
              </a:pPr>
              <a:r>
                <a:rPr lang="en-US" sz="5000">
                  <a:solidFill>
                    <a:srgbClr val="F0F2F6"/>
                  </a:solidFill>
                  <a:latin typeface="HK Grotesk Bold"/>
                </a:rPr>
                <a:t>Reduced work for Librarians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046345"/>
              <a:ext cx="11515331" cy="16008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F0F2F6"/>
                  </a:solidFill>
                  <a:latin typeface="Clear Sans Regular"/>
                </a:rPr>
                <a:t>Every year, all librarians work for a whole month to take a survey of all the books that are available in the library.  But, RFID implementation can give those results in a single day.  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419137"/>
              <a:ext cx="11515331" cy="10117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6000"/>
                </a:lnSpc>
              </a:pPr>
              <a:r>
                <a:rPr lang="en-US" sz="5000">
                  <a:solidFill>
                    <a:srgbClr val="F0F2F6"/>
                  </a:solidFill>
                  <a:latin typeface="HK Grotesk Bold"/>
                </a:rPr>
                <a:t>Tracing Books 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4475008"/>
              <a:ext cx="11515331" cy="16008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219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0F2F6"/>
                  </a:solidFill>
                  <a:latin typeface="Clear Sans Regular"/>
                </a:rPr>
                <a:t>Tracing the available books are made much easier since, a RFID gun can detect a particular book within minutes in the entire library.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6847799"/>
              <a:ext cx="11515331" cy="10117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6000"/>
                </a:lnSpc>
              </a:pPr>
              <a:r>
                <a:rPr lang="en-US" sz="5000">
                  <a:solidFill>
                    <a:srgbClr val="F0F2F6"/>
                  </a:solidFill>
                  <a:latin typeface="HK Grotesk Bold"/>
                </a:rPr>
                <a:t>Self return stalls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7903670"/>
              <a:ext cx="11515331" cy="21445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0F2F6"/>
                  </a:solidFill>
                  <a:latin typeface="Clear Sans Regular"/>
                </a:rPr>
                <a:t>For returning the books that are borrowed, there is no human required to monitor the activity.  Hence, a return stall can be set up to return the books and it can be collected by the librarians at the end of the day.</a:t>
              </a:r>
            </a:p>
          </p:txBody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2507" y="6212755"/>
            <a:ext cx="2161974" cy="2161974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8622802" y="9258300"/>
            <a:ext cx="1042396" cy="190555"/>
            <a:chOff x="0" y="0"/>
            <a:chExt cx="1389862" cy="254073"/>
          </a:xfrm>
        </p:grpSpPr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0" y="0"/>
              <a:ext cx="254073" cy="254073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567894" y="0"/>
              <a:ext cx="254073" cy="254073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35788" y="0"/>
              <a:ext cx="254073" cy="25407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8775001"/>
          </a:xfrm>
          <a:prstGeom prst="rect">
            <a:avLst/>
          </a:prstGeom>
          <a:solidFill>
            <a:srgbClr val="787CD1"/>
          </a:solidFill>
        </p:spPr>
      </p:sp>
      <p:grpSp>
        <p:nvGrpSpPr>
          <p:cNvPr id="3" name="Group 3"/>
          <p:cNvGrpSpPr/>
          <p:nvPr/>
        </p:nvGrpSpPr>
        <p:grpSpPr>
          <a:xfrm>
            <a:off x="8622802" y="875538"/>
            <a:ext cx="8636498" cy="5497279"/>
            <a:chOff x="0" y="0"/>
            <a:chExt cx="11515331" cy="7329705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11515331" cy="10117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6000"/>
                </a:lnSpc>
              </a:pPr>
              <a:r>
                <a:rPr lang="en-US" sz="5000">
                  <a:solidFill>
                    <a:srgbClr val="F0F2F6"/>
                  </a:solidFill>
                  <a:latin typeface="HK Grotesk Bold"/>
                </a:rPr>
                <a:t>RFID Reader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046345"/>
              <a:ext cx="11515331" cy="1057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F0F2F6"/>
                  </a:solidFill>
                  <a:latin typeface="Clear Sans Regular"/>
                </a:rPr>
                <a:t>An RFID Reader was bought for Rs.510 for reading the data in RFID cards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875440"/>
              <a:ext cx="11515331" cy="10117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6000"/>
                </a:lnSpc>
              </a:pPr>
              <a:r>
                <a:rPr lang="en-US" sz="5000">
                  <a:solidFill>
                    <a:srgbClr val="F0F2F6"/>
                  </a:solidFill>
                  <a:latin typeface="HK Grotesk Bold"/>
                </a:rPr>
                <a:t>RFID Cards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931311"/>
              <a:ext cx="11515331" cy="5134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219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0F2F6"/>
                  </a:solidFill>
                  <a:latin typeface="Clear Sans Regular"/>
                </a:rPr>
                <a:t>RFID Cards was bought along with the RFID reader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5216709"/>
              <a:ext cx="11515331" cy="10117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6000"/>
                </a:lnSpc>
              </a:pPr>
              <a:r>
                <a:rPr lang="en-US" sz="5000">
                  <a:solidFill>
                    <a:srgbClr val="F0F2F6"/>
                  </a:solidFill>
                  <a:latin typeface="HK Grotesk Bold"/>
                </a:rPr>
                <a:t>Stall setup and RFID Gun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6272580"/>
              <a:ext cx="11515331" cy="1057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219"/>
                </a:lnSpc>
              </a:pPr>
              <a:r>
                <a:rPr lang="en-US" sz="2300">
                  <a:solidFill>
                    <a:srgbClr val="F0F2F6"/>
                  </a:solidFill>
                  <a:latin typeface="Clear Sans Regular"/>
                </a:rPr>
                <a:t>Due to the COVID-19 Virus outbreak, we could not purchase the </a:t>
              </a:r>
            </a:p>
            <a:p>
              <a:pPr>
                <a:lnSpc>
                  <a:spcPts val="3220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F0F2F6"/>
                  </a:solidFill>
                  <a:latin typeface="Clear Sans Regular"/>
                </a:rPr>
                <a:t>setup for a stall and RFID Gun</a:t>
              </a:r>
            </a:p>
          </p:txBody>
        </p:sp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24641" y="6372817"/>
            <a:ext cx="1267789" cy="1902873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028700" y="1019175"/>
            <a:ext cx="5845110" cy="1144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000"/>
              </a:lnSpc>
            </a:pPr>
            <a:r>
              <a:rPr lang="en-US" sz="7500">
                <a:solidFill>
                  <a:srgbClr val="F0F2F6"/>
                </a:solidFill>
                <a:latin typeface="HK Grotesk Bold"/>
              </a:rPr>
              <a:t>Expenditure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622802" y="9258300"/>
            <a:ext cx="1042396" cy="190555"/>
            <a:chOff x="0" y="0"/>
            <a:chExt cx="1389862" cy="254073"/>
          </a:xfrm>
        </p:grpSpPr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0" y="0"/>
              <a:ext cx="254073" cy="254073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567894" y="0"/>
              <a:ext cx="254073" cy="254073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135788" y="0"/>
              <a:ext cx="254073" cy="25407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21198" y="544205"/>
            <a:ext cx="18288000" cy="8775001"/>
          </a:xfrm>
          <a:prstGeom prst="rect">
            <a:avLst/>
          </a:prstGeom>
          <a:solidFill>
            <a:srgbClr val="787CD1"/>
          </a:solidFill>
        </p:spPr>
        <p:txBody>
          <a:bodyPr/>
          <a:lstStyle/>
          <a:p>
            <a:r>
              <a:rPr lang="id-ID" dirty="0"/>
              <a:t> </a:t>
            </a:r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1028700" y="1019175"/>
            <a:ext cx="5845110" cy="2279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000"/>
              </a:lnSpc>
            </a:pPr>
            <a:r>
              <a:rPr lang="en-US" sz="7500">
                <a:solidFill>
                  <a:srgbClr val="F0F2F6"/>
                </a:solidFill>
                <a:latin typeface="HK Grotesk Bold"/>
              </a:rPr>
              <a:t>Bills Submission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622802" y="9435723"/>
            <a:ext cx="1042396" cy="190555"/>
            <a:chOff x="0" y="0"/>
            <a:chExt cx="1389862" cy="254073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0" y="0"/>
              <a:ext cx="254073" cy="254073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567894" y="0"/>
              <a:ext cx="254073" cy="254073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135788" y="0"/>
              <a:ext cx="254073" cy="254073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>
            <a:off x="7913783" y="1850864"/>
            <a:ext cx="8636498" cy="5209047"/>
            <a:chOff x="0" y="0"/>
            <a:chExt cx="11515331" cy="6945396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11515331" cy="10117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6000"/>
                </a:lnSpc>
              </a:pPr>
              <a:r>
                <a:rPr lang="en-US" sz="5000">
                  <a:solidFill>
                    <a:srgbClr val="F0F2F6"/>
                  </a:solidFill>
                  <a:latin typeface="HK Grotesk Bold"/>
                </a:rPr>
                <a:t>RFID Reader and Cards Bills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046345"/>
              <a:ext cx="11515331" cy="5134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219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341269"/>
              <a:ext cx="11515331" cy="17053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60"/>
                </a:lnSpc>
              </a:pPr>
              <a:r>
                <a:rPr lang="en-US" sz="2800" dirty="0">
                  <a:solidFill>
                    <a:srgbClr val="F0F2F6"/>
                  </a:solidFill>
                  <a:latin typeface="HK Grotesk Bold"/>
                </a:rPr>
                <a:t>Bills are uploaded in this link:</a:t>
              </a:r>
            </a:p>
            <a:p>
              <a:pPr>
                <a:lnSpc>
                  <a:spcPts val="3360"/>
                </a:lnSpc>
              </a:pPr>
              <a:r>
                <a:rPr lang="en-US" sz="2800" dirty="0">
                  <a:solidFill>
                    <a:srgbClr val="F0F2F6"/>
                  </a:solidFill>
                  <a:latin typeface="HK Grotesk Bold"/>
                </a:rPr>
                <a:t>https://drive.google.com/open?</a:t>
              </a:r>
            </a:p>
            <a:p>
              <a:pPr>
                <a:lnSpc>
                  <a:spcPts val="3360"/>
                </a:lnSpc>
              </a:pPr>
              <a:r>
                <a:rPr lang="en-US" sz="2800" dirty="0">
                  <a:solidFill>
                    <a:srgbClr val="F0F2F6"/>
                  </a:solidFill>
                  <a:latin typeface="HK Grotesk Bold"/>
                </a:rPr>
                <a:t>id=1U2s1MXusLln0_ISKGSDoecZA09cfuOQD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4090699"/>
              <a:ext cx="11515331" cy="5134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219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5376097"/>
              <a:ext cx="11515331" cy="10117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6000"/>
                </a:lnSpc>
              </a:pPr>
              <a:endParaRPr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6431968"/>
              <a:ext cx="11515331" cy="5134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220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05987" y="6116715"/>
            <a:ext cx="2322042" cy="2322042"/>
          </a:xfrm>
          <a:prstGeom prst="rect">
            <a:avLst/>
          </a:prstGeom>
        </p:spPr>
      </p:pic>
      <p:sp>
        <p:nvSpPr>
          <p:cNvPr id="16" name="TextBox 11">
            <a:extLst>
              <a:ext uri="{FF2B5EF4-FFF2-40B4-BE49-F238E27FC236}">
                <a16:creationId xmlns:a16="http://schemas.microsoft.com/office/drawing/2014/main" id="{30B1B13C-3A32-4AE3-B143-48DA8AECD6B0}"/>
              </a:ext>
            </a:extLst>
          </p:cNvPr>
          <p:cNvSpPr txBox="1"/>
          <p:nvPr/>
        </p:nvSpPr>
        <p:spPr>
          <a:xfrm>
            <a:off x="7914920" y="6100637"/>
            <a:ext cx="8636498" cy="434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id-ID" sz="2800" dirty="0">
                <a:solidFill>
                  <a:srgbClr val="F0F2F6"/>
                </a:solidFill>
                <a:latin typeface="HK Grotesk Bold"/>
              </a:rPr>
              <a:t>Total cost incurred : 510 INR</a:t>
            </a:r>
            <a:endParaRPr lang="en-US" sz="2800" dirty="0">
              <a:solidFill>
                <a:srgbClr val="F0F2F6"/>
              </a:solidFill>
              <a:latin typeface="HK Grotesk Bold"/>
            </a:endParaRP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99068DEF-CD69-4C0B-A68C-899CB0239452}"/>
              </a:ext>
            </a:extLst>
          </p:cNvPr>
          <p:cNvSpPr txBox="1"/>
          <p:nvPr/>
        </p:nvSpPr>
        <p:spPr>
          <a:xfrm>
            <a:off x="7913783" y="5254916"/>
            <a:ext cx="8636498" cy="870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id-ID" sz="2800" dirty="0">
                <a:solidFill>
                  <a:srgbClr val="F0F2F6"/>
                </a:solidFill>
                <a:latin typeface="HK Grotesk Bold"/>
              </a:rPr>
              <a:t>RFID Reader and Cards : 450 INR</a:t>
            </a:r>
          </a:p>
          <a:p>
            <a:pPr>
              <a:lnSpc>
                <a:spcPts val="3360"/>
              </a:lnSpc>
            </a:pPr>
            <a:r>
              <a:rPr lang="id-ID" sz="2800" dirty="0">
                <a:solidFill>
                  <a:srgbClr val="F0F2F6"/>
                </a:solidFill>
                <a:latin typeface="HK Grotesk Bold"/>
              </a:rPr>
              <a:t>Transfer Charge : 60 INR</a:t>
            </a:r>
            <a:endParaRPr lang="en-US" sz="2800" dirty="0">
              <a:solidFill>
                <a:srgbClr val="F0F2F6"/>
              </a:solidFill>
              <a:latin typeface="HK Grotesk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447</Words>
  <Application>Microsoft Office PowerPoint</Application>
  <PresentationFormat>Custom</PresentationFormat>
  <Paragraphs>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Clear Sans Regular</vt:lpstr>
      <vt:lpstr>Aileron Heavy</vt:lpstr>
      <vt:lpstr>Calibri</vt:lpstr>
      <vt:lpstr>Aileron Regular</vt:lpstr>
      <vt:lpstr>HK Grotesk Bold</vt:lpstr>
      <vt:lpstr>Aileron Regular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RFID based Library Management System</dc:title>
  <cp:lastModifiedBy>Sharez LS</cp:lastModifiedBy>
  <cp:revision>8</cp:revision>
  <dcterms:created xsi:type="dcterms:W3CDTF">2006-08-16T00:00:00Z</dcterms:created>
  <dcterms:modified xsi:type="dcterms:W3CDTF">2020-05-30T05:44:34Z</dcterms:modified>
  <dc:identifier>DAD9m3fkXHA</dc:identifier>
</cp:coreProperties>
</file>